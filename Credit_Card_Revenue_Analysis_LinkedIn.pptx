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Blue</c:v>
                  </c:pt>
                  <c:pt idx="1">
                    <c:v>Silver</c:v>
                  </c:pt>
                  <c:pt idx="2">
                    <c:v>Gold</c:v>
                  </c:pt>
                  <c:pt idx="3">
                    <c:v>Platinum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47.19</c:v>
                </c:pt>
                <c:pt idx="1">
                  <c:v>5.66</c:v>
                </c:pt>
                <c:pt idx="2">
                  <c:v>2.53</c:v>
                </c:pt>
                <c:pt idx="3">
                  <c:v>1.14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Profession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Business
man</c:v>
                  </c:pt>
                  <c:pt idx="1">
                    <c:v>White-
collar</c:v>
                  </c:pt>
                  <c:pt idx="2">
                    <c:v>Self-
employed</c:v>
                  </c:pt>
                  <c:pt idx="3">
                    <c:v>Govt</c:v>
                  </c:pt>
                  <c:pt idx="4">
                    <c:v>Blue-
collar</c:v>
                  </c:pt>
                  <c:pt idx="5">
                    <c:v>Retirees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17.7</c:v>
                </c:pt>
                <c:pt idx="1">
                  <c:v>10.28</c:v>
                </c:pt>
                <c:pt idx="2">
                  <c:v>8.54</c:v>
                </c:pt>
                <c:pt idx="3">
                  <c:v>8.34</c:v>
                </c:pt>
                <c:pt idx="4">
                  <c:v>7.04</c:v>
                </c:pt>
                <c:pt idx="5">
                  <c:v>4.62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Age ($M)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40–49</c:v>
                  </c:pt>
                  <c:pt idx="1">
                    <c:v>50–59</c:v>
                  </c:pt>
                  <c:pt idx="2">
                    <c:v>30–39</c:v>
                  </c:pt>
                  <c:pt idx="3">
                    <c:v>60+</c:v>
                  </c:pt>
                  <c:pt idx="4">
                    <c:v>&lt;30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24.73</c:v>
                </c:pt>
                <c:pt idx="1">
                  <c:v>18.62</c:v>
                </c:pt>
                <c:pt idx="2">
                  <c:v>9.84</c:v>
                </c:pt>
                <c:pt idx="3">
                  <c:v>2.25</c:v>
                </c:pt>
                <c:pt idx="4">
                  <c:v>1.07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TX</c:v>
                  </c:pt>
                  <c:pt idx="1">
                    <c:v>NY</c:v>
                  </c:pt>
                  <c:pt idx="2">
                    <c:v>CA</c:v>
                  </c:pt>
                  <c:pt idx="3">
                    <c:v>FL</c:v>
                  </c:pt>
                  <c:pt idx="4">
                    <c:v>NJ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13.02</c:v>
                </c:pt>
                <c:pt idx="1">
                  <c:v>12.97</c:v>
                </c:pt>
                <c:pt idx="2">
                  <c:v>12.9</c:v>
                </c:pt>
                <c:pt idx="3">
                  <c:v>9.97</c:v>
                </c:pt>
                <c:pt idx="4">
                  <c:v>4.38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Swipe</c:v>
                  </c:pt>
                  <c:pt idx="1">
                    <c:v>Chip</c:v>
                  </c:pt>
                  <c:pt idx="2">
                    <c:v>Online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35.66</c:v>
                </c:pt>
                <c:pt idx="1">
                  <c:v>17.34</c:v>
                </c:pt>
                <c:pt idx="2">
                  <c:v>3.52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Customer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1280160" cy="27432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10,293 customer records across MySQL and Power BI to find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concentrates — and where the business is exposed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card issuer needs to know exactly where its revenue comes from — by card, by customer, and by geography — before it can grow or defend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card tiers and channels drive revenue?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240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and states concentrate it?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business over-exposed to a few segments?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 data to a reconciled, trustworthy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10,293 customer records across two linked tables and wrote 12 analytical queries covering revenue, segments, and growth trends.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Power Query transformations and DAX measures combining transaction, interest, and fee revenue.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039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Reconciliation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revenue mismatch between SQL and Power BI, traced it to an incomplete formula and 185 unsynced rows, and resolved both.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600" dirty="0"/>
          </a:p>
        </p:txBody>
      </p:sp>
      <p:pic>
        <p:nvPicPr>
          <p:cNvPr id="3" name="Image 0" descr="/home/claude/cc2/dash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8092440" cy="4679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097280"/>
            <a:ext cx="2697480" cy="4679402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0982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098280" y="179222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281160" y="16276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card category, quarter, and channel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98280" y="286207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28116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visuals: revenue trend, profession, expenditure, education, and state breakdowns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098280" y="3931920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9281160" y="37673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Query transformations and DAX measures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98280" y="500176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281160" y="4837176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charts update instantly with each filter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$56.52M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52044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10,293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5508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667,234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18972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$7.98M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D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Transaction Amount + Interest Earned + Annual Fees  •  Customer Satisfaction 3.19 / 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Cards Carry 83% of All Revenue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card category ($ millions)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3774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Blue-tier cards generate $47.19M — 83% of total revenue — not because they're premium, but because they're the most widely held. Silver, Gold, and Platinum together contribute under 17%, pointing to a large pool of Blue customers who haven't been upgraded.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Businessmen and the 40–59 Age Band Drive Two-Thirds of Revenue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profession and age group ($ millions)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60020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— in 5 States and 2 Channels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States by Revenue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2880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5 states alone account for ~94% of total revenue — the rest of the country contributes barely 6%.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1887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Channel</a:t>
            </a:r>
            <a:endParaRPr lang="en-US" sz="15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182880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transactions generate just 6% of revenue — far behind Swipe (63%) and Chip (31%), despite being the lowest-friction channel to grow.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647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the Blue base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6712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83% of revenue concentrated in Blue, a targeted Silver/Gold upgrade campaign for high-spending Blue customers is the single largest growth lever available.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3675888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68680" y="3675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429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5 states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83133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NY, CA, FL, and NJ generate ~94% of revenue. Expansion marketing in underrepresented states reduces geographic concentration risk.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5340096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68680" y="53400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0932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Online channel and lift satisfaction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49554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contributes just 6% of revenue despite being the cheapest channel to scale, and a 3.19/5 satisfaction score alongside strong revenue signals room to improve retention before it erodes growth.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CTEs, window functions (RANK, ROW_NUMBER, LAG) across 10K+ rows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design, drill-through, KPI cards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 combining transaction, interest, and fee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DFE3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QA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a $11M cross-tool discrepancy to its root cause and resolved 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Revenue &amp; Customer Analysis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scripts, dashboard, and write-up available on GitHub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Aspiring Data Analyst  |  SQL • Power BI •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2026-09-06T16:19:27Z</dcterms:created>
  <dcterms:modified xsi:type="dcterms:W3CDTF">2026-09-06T16:19:27Z</dcterms:modified>
</cp:coreProperties>
</file>